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70" r:id="rId2"/>
    <p:sldId id="277" r:id="rId3"/>
    <p:sldId id="256" r:id="rId4"/>
    <p:sldId id="260" r:id="rId5"/>
    <p:sldId id="257" r:id="rId6"/>
    <p:sldId id="258" r:id="rId7"/>
    <p:sldId id="261" r:id="rId8"/>
    <p:sldId id="271" r:id="rId9"/>
    <p:sldId id="272" r:id="rId10"/>
    <p:sldId id="263" r:id="rId11"/>
    <p:sldId id="264" r:id="rId12"/>
    <p:sldId id="266" r:id="rId13"/>
    <p:sldId id="267" r:id="rId14"/>
    <p:sldId id="27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6024"/>
  </p:normalViewPr>
  <p:slideViewPr>
    <p:cSldViewPr snapToGrid="0">
      <p:cViewPr varScale="1">
        <p:scale>
          <a:sx n="113" d="100"/>
          <a:sy n="113" d="100"/>
        </p:scale>
        <p:origin x="58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B9E2E32-48E4-4693-8E15-7802EC4E5EEA}" type="datetimeFigureOut">
              <a:rPr lang="en-US" smtClean="0"/>
              <a:t>4/17/26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AEC3B7-3554-4775-A722-F3C05E1E2BED}" type="slidenum">
              <a:rPr lang="en-US" smtClean="0"/>
              <a:t>‹#›</a:t>
            </a:fld>
            <a:endParaRPr lang="en-US"/>
          </a:p>
        </p:txBody>
      </p:sp>
    </p:spTree>
    <p:extLst>
      <p:ext uri="{BB962C8B-B14F-4D97-AF65-F5344CB8AC3E}">
        <p14:creationId xmlns:p14="http://schemas.microsoft.com/office/powerpoint/2010/main" val="1110162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9E2E32-48E4-4693-8E15-7802EC4E5EEA}" type="datetimeFigureOut">
              <a:rPr lang="en-US" smtClean="0"/>
              <a:t>4/17/26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AEC3B7-3554-4775-A722-F3C05E1E2BED}" type="slidenum">
              <a:rPr lang="en-US" smtClean="0"/>
              <a:t>‹#›</a:t>
            </a:fld>
            <a:endParaRPr lang="en-US"/>
          </a:p>
        </p:txBody>
      </p:sp>
    </p:spTree>
    <p:extLst>
      <p:ext uri="{BB962C8B-B14F-4D97-AF65-F5344CB8AC3E}">
        <p14:creationId xmlns:p14="http://schemas.microsoft.com/office/powerpoint/2010/main" val="3264496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9E2E32-48E4-4693-8E15-7802EC4E5EEA}" type="datetimeFigureOut">
              <a:rPr lang="en-US" smtClean="0"/>
              <a:t>4/17/26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AEC3B7-3554-4775-A722-F3C05E1E2BED}" type="slidenum">
              <a:rPr lang="en-US" smtClean="0"/>
              <a:t>‹#›</a:t>
            </a:fld>
            <a:endParaRPr lang="en-US"/>
          </a:p>
        </p:txBody>
      </p:sp>
    </p:spTree>
    <p:extLst>
      <p:ext uri="{BB962C8B-B14F-4D97-AF65-F5344CB8AC3E}">
        <p14:creationId xmlns:p14="http://schemas.microsoft.com/office/powerpoint/2010/main" val="3222113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9E2E32-48E4-4693-8E15-7802EC4E5EEA}" type="datetimeFigureOut">
              <a:rPr lang="en-US" smtClean="0"/>
              <a:t>4/17/26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AEC3B7-3554-4775-A722-F3C05E1E2BED}" type="slidenum">
              <a:rPr lang="en-US" smtClean="0"/>
              <a:t>‹#›</a:t>
            </a:fld>
            <a:endParaRPr lang="en-US"/>
          </a:p>
        </p:txBody>
      </p:sp>
    </p:spTree>
    <p:extLst>
      <p:ext uri="{BB962C8B-B14F-4D97-AF65-F5344CB8AC3E}">
        <p14:creationId xmlns:p14="http://schemas.microsoft.com/office/powerpoint/2010/main" val="3058349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B9E2E32-48E4-4693-8E15-7802EC4E5EEA}" type="datetimeFigureOut">
              <a:rPr lang="en-US" smtClean="0"/>
              <a:t>4/17/26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AEC3B7-3554-4775-A722-F3C05E1E2BED}" type="slidenum">
              <a:rPr lang="en-US" smtClean="0"/>
              <a:t>‹#›</a:t>
            </a:fld>
            <a:endParaRPr lang="en-US"/>
          </a:p>
        </p:txBody>
      </p:sp>
    </p:spTree>
    <p:extLst>
      <p:ext uri="{BB962C8B-B14F-4D97-AF65-F5344CB8AC3E}">
        <p14:creationId xmlns:p14="http://schemas.microsoft.com/office/powerpoint/2010/main" val="2024321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B9E2E32-48E4-4693-8E15-7802EC4E5EEA}" type="datetimeFigureOut">
              <a:rPr lang="en-US" smtClean="0"/>
              <a:t>4/17/26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AEC3B7-3554-4775-A722-F3C05E1E2BED}" type="slidenum">
              <a:rPr lang="en-US" smtClean="0"/>
              <a:t>‹#›</a:t>
            </a:fld>
            <a:endParaRPr lang="en-US"/>
          </a:p>
        </p:txBody>
      </p:sp>
    </p:spTree>
    <p:extLst>
      <p:ext uri="{BB962C8B-B14F-4D97-AF65-F5344CB8AC3E}">
        <p14:creationId xmlns:p14="http://schemas.microsoft.com/office/powerpoint/2010/main" val="2527498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EB9E2E32-48E4-4693-8E15-7802EC4E5EEA}" type="datetimeFigureOut">
              <a:rPr lang="en-US" smtClean="0"/>
              <a:t>4/17/26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AEC3B7-3554-4775-A722-F3C05E1E2BED}" type="slidenum">
              <a:rPr lang="en-US" smtClean="0"/>
              <a:t>‹#›</a:t>
            </a:fld>
            <a:endParaRPr lang="en-US"/>
          </a:p>
        </p:txBody>
      </p:sp>
    </p:spTree>
    <p:extLst>
      <p:ext uri="{BB962C8B-B14F-4D97-AF65-F5344CB8AC3E}">
        <p14:creationId xmlns:p14="http://schemas.microsoft.com/office/powerpoint/2010/main" val="1699504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9E2E32-48E4-4693-8E15-7802EC4E5EEA}" type="datetimeFigureOut">
              <a:rPr lang="en-US" smtClean="0"/>
              <a:t>4/17/26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AEC3B7-3554-4775-A722-F3C05E1E2BED}" type="slidenum">
              <a:rPr lang="en-US" smtClean="0"/>
              <a:t>‹#›</a:t>
            </a:fld>
            <a:endParaRPr lang="en-US"/>
          </a:p>
        </p:txBody>
      </p:sp>
    </p:spTree>
    <p:extLst>
      <p:ext uri="{BB962C8B-B14F-4D97-AF65-F5344CB8AC3E}">
        <p14:creationId xmlns:p14="http://schemas.microsoft.com/office/powerpoint/2010/main" val="3781003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9E2E32-48E4-4693-8E15-7802EC4E5EEA}" type="datetimeFigureOut">
              <a:rPr lang="en-US" smtClean="0"/>
              <a:t>4/17/26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AEC3B7-3554-4775-A722-F3C05E1E2BED}" type="slidenum">
              <a:rPr lang="en-US" smtClean="0"/>
              <a:t>‹#›</a:t>
            </a:fld>
            <a:endParaRPr lang="en-US"/>
          </a:p>
        </p:txBody>
      </p:sp>
    </p:spTree>
    <p:extLst>
      <p:ext uri="{BB962C8B-B14F-4D97-AF65-F5344CB8AC3E}">
        <p14:creationId xmlns:p14="http://schemas.microsoft.com/office/powerpoint/2010/main" val="1229823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9E2E32-48E4-4693-8E15-7802EC4E5EEA}" type="datetimeFigureOut">
              <a:rPr lang="en-US" smtClean="0"/>
              <a:t>4/17/26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AEC3B7-3554-4775-A722-F3C05E1E2BED}" type="slidenum">
              <a:rPr lang="en-US" smtClean="0"/>
              <a:t>‹#›</a:t>
            </a:fld>
            <a:endParaRPr lang="en-US"/>
          </a:p>
        </p:txBody>
      </p:sp>
    </p:spTree>
    <p:extLst>
      <p:ext uri="{BB962C8B-B14F-4D97-AF65-F5344CB8AC3E}">
        <p14:creationId xmlns:p14="http://schemas.microsoft.com/office/powerpoint/2010/main" val="4245812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9E2E32-48E4-4693-8E15-7802EC4E5EEA}" type="datetimeFigureOut">
              <a:rPr lang="en-US" smtClean="0"/>
              <a:t>4/17/26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AEC3B7-3554-4775-A722-F3C05E1E2BED}" type="slidenum">
              <a:rPr lang="en-US" smtClean="0"/>
              <a:t>‹#›</a:t>
            </a:fld>
            <a:endParaRPr lang="en-US"/>
          </a:p>
        </p:txBody>
      </p:sp>
    </p:spTree>
    <p:extLst>
      <p:ext uri="{BB962C8B-B14F-4D97-AF65-F5344CB8AC3E}">
        <p14:creationId xmlns:p14="http://schemas.microsoft.com/office/powerpoint/2010/main" val="37336482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9E2E32-48E4-4693-8E15-7802EC4E5EEA}" type="datetimeFigureOut">
              <a:rPr lang="en-US" smtClean="0"/>
              <a:t>4/17/26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AEC3B7-3554-4775-A722-F3C05E1E2BED}"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7784239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9E2E32-48E4-4693-8E15-7802EC4E5EEA}" type="datetimeFigureOut">
              <a:rPr lang="en-US" smtClean="0"/>
              <a:t>4/17/26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AEC3B7-3554-4775-A722-F3C05E1E2BED}" type="slidenum">
              <a:rPr lang="en-US" smtClean="0"/>
              <a:t>‹#›</a:t>
            </a:fld>
            <a:endParaRPr lang="en-US"/>
          </a:p>
        </p:txBody>
      </p:sp>
    </p:spTree>
    <p:extLst>
      <p:ext uri="{BB962C8B-B14F-4D97-AF65-F5344CB8AC3E}">
        <p14:creationId xmlns:p14="http://schemas.microsoft.com/office/powerpoint/2010/main" val="5909559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B9E2E32-48E4-4693-8E15-7802EC4E5EEA}" type="datetimeFigureOut">
              <a:rPr lang="en-US" smtClean="0"/>
              <a:t>4/17/26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AEC3B7-3554-4775-A722-F3C05E1E2BED}" type="slidenum">
              <a:rPr lang="en-US" smtClean="0"/>
              <a:t>‹#›</a:t>
            </a:fld>
            <a:endParaRPr lang="en-US"/>
          </a:p>
        </p:txBody>
      </p:sp>
    </p:spTree>
    <p:extLst>
      <p:ext uri="{BB962C8B-B14F-4D97-AF65-F5344CB8AC3E}">
        <p14:creationId xmlns:p14="http://schemas.microsoft.com/office/powerpoint/2010/main" val="4119611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B9E2E32-48E4-4693-8E15-7802EC4E5EEA}" type="datetimeFigureOut">
              <a:rPr lang="en-US" smtClean="0"/>
              <a:t>4/17/26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AEC3B7-3554-4775-A722-F3C05E1E2BED}" type="slidenum">
              <a:rPr lang="en-US" smtClean="0"/>
              <a:t>‹#›</a:t>
            </a:fld>
            <a:endParaRPr lang="en-US"/>
          </a:p>
        </p:txBody>
      </p:sp>
    </p:spTree>
    <p:extLst>
      <p:ext uri="{BB962C8B-B14F-4D97-AF65-F5344CB8AC3E}">
        <p14:creationId xmlns:p14="http://schemas.microsoft.com/office/powerpoint/2010/main" val="37359783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9E2E32-48E4-4693-8E15-7802EC4E5EEA}" type="datetimeFigureOut">
              <a:rPr lang="en-US" smtClean="0"/>
              <a:t>4/17/26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AEC3B7-3554-4775-A722-F3C05E1E2BED}" type="slidenum">
              <a:rPr lang="en-US" smtClean="0"/>
              <a:t>‹#›</a:t>
            </a:fld>
            <a:endParaRPr lang="en-US"/>
          </a:p>
        </p:txBody>
      </p:sp>
    </p:spTree>
    <p:extLst>
      <p:ext uri="{BB962C8B-B14F-4D97-AF65-F5344CB8AC3E}">
        <p14:creationId xmlns:p14="http://schemas.microsoft.com/office/powerpoint/2010/main" val="923060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9E2E32-48E4-4693-8E15-7802EC4E5EEA}" type="datetimeFigureOut">
              <a:rPr lang="en-US" smtClean="0"/>
              <a:t>4/17/26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AEC3B7-3554-4775-A722-F3C05E1E2BED}" type="slidenum">
              <a:rPr lang="en-US" smtClean="0"/>
              <a:t>‹#›</a:t>
            </a:fld>
            <a:endParaRPr lang="en-US"/>
          </a:p>
        </p:txBody>
      </p:sp>
    </p:spTree>
    <p:extLst>
      <p:ext uri="{BB962C8B-B14F-4D97-AF65-F5344CB8AC3E}">
        <p14:creationId xmlns:p14="http://schemas.microsoft.com/office/powerpoint/2010/main" val="4080285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EB9E2E32-48E4-4693-8E15-7802EC4E5EEA}" type="datetimeFigureOut">
              <a:rPr lang="en-US" smtClean="0"/>
              <a:t>4/17/26</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A4AEC3B7-3554-4775-A722-F3C05E1E2BED}" type="slidenum">
              <a:rPr lang="en-US" smtClean="0"/>
              <a:t>‹#›</a:t>
            </a:fld>
            <a:endParaRPr lang="en-US"/>
          </a:p>
        </p:txBody>
      </p:sp>
    </p:spTree>
    <p:extLst>
      <p:ext uri="{BB962C8B-B14F-4D97-AF65-F5344CB8AC3E}">
        <p14:creationId xmlns:p14="http://schemas.microsoft.com/office/powerpoint/2010/main" val="24672057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D411E-AF71-C468-EC95-EE1DD3795C51}"/>
              </a:ext>
            </a:extLst>
          </p:cNvPr>
          <p:cNvSpPr>
            <a:spLocks noGrp="1"/>
          </p:cNvSpPr>
          <p:nvPr>
            <p:ph type="title"/>
          </p:nvPr>
        </p:nvSpPr>
        <p:spPr/>
        <p:txBody>
          <a:bodyPr/>
          <a:lstStyle/>
          <a:p>
            <a:r>
              <a:rPr lang="en-US" cap="none" dirty="0"/>
              <a:t>Computing for Sustainability</a:t>
            </a:r>
          </a:p>
        </p:txBody>
      </p:sp>
      <p:sp>
        <p:nvSpPr>
          <p:cNvPr id="3" name="Content Placeholder 2">
            <a:extLst>
              <a:ext uri="{FF2B5EF4-FFF2-40B4-BE49-F238E27FC236}">
                <a16:creationId xmlns:a16="http://schemas.microsoft.com/office/drawing/2014/main" id="{A2E1BCB9-76F6-F154-95C5-009962349173}"/>
              </a:ext>
            </a:extLst>
          </p:cNvPr>
          <p:cNvSpPr>
            <a:spLocks noGrp="1"/>
          </p:cNvSpPr>
          <p:nvPr>
            <p:ph sz="quarter" idx="13"/>
          </p:nvPr>
        </p:nvSpPr>
        <p:spPr/>
        <p:txBody>
          <a:bodyPr/>
          <a:lstStyle/>
          <a:p>
            <a:endParaRPr lang="en-US" dirty="0"/>
          </a:p>
          <a:p>
            <a:endParaRPr lang="en-US" dirty="0"/>
          </a:p>
          <a:p>
            <a:endParaRPr lang="en-US" dirty="0"/>
          </a:p>
          <a:p>
            <a:pPr marL="0" indent="0" algn="r">
              <a:buNone/>
            </a:pPr>
            <a:r>
              <a:rPr lang="en-US" dirty="0"/>
              <a:t>                                                                       	d</a:t>
            </a:r>
            <a:r>
              <a:rPr lang="en-US" cap="none" dirty="0"/>
              <a:t>r. Mansi Jhamb                                                                                                     Associate Professor</a:t>
            </a:r>
          </a:p>
          <a:p>
            <a:pPr marL="0" indent="0" algn="r">
              <a:buNone/>
            </a:pPr>
            <a:r>
              <a:rPr lang="en-US" cap="none" dirty="0"/>
              <a:t>                                                                                                      USIC&amp;T, GGSIPU</a:t>
            </a:r>
            <a:endParaRPr lang="en-US" dirty="0"/>
          </a:p>
        </p:txBody>
      </p:sp>
    </p:spTree>
    <p:extLst>
      <p:ext uri="{BB962C8B-B14F-4D97-AF65-F5344CB8AC3E}">
        <p14:creationId xmlns:p14="http://schemas.microsoft.com/office/powerpoint/2010/main" val="2981052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FED86-E468-4DDF-90A6-10B98EC05C4E}"/>
              </a:ext>
            </a:extLst>
          </p:cNvPr>
          <p:cNvSpPr>
            <a:spLocks noGrp="1"/>
          </p:cNvSpPr>
          <p:nvPr>
            <p:ph type="title"/>
          </p:nvPr>
        </p:nvSpPr>
        <p:spPr>
          <a:xfrm>
            <a:off x="913150" y="304193"/>
            <a:ext cx="10364451" cy="943584"/>
          </a:xfrm>
        </p:spPr>
        <p:txBody>
          <a:bodyPr/>
          <a:lstStyle/>
          <a:p>
            <a:r>
              <a:rPr lang="en-US" cap="none" dirty="0"/>
              <a:t>Sustainability….</a:t>
            </a:r>
          </a:p>
        </p:txBody>
      </p:sp>
      <p:sp>
        <p:nvSpPr>
          <p:cNvPr id="3" name="Content Placeholder 2">
            <a:extLst>
              <a:ext uri="{FF2B5EF4-FFF2-40B4-BE49-F238E27FC236}">
                <a16:creationId xmlns:a16="http://schemas.microsoft.com/office/drawing/2014/main" id="{AC27C1ED-A2FD-4187-A0F9-AFA805456F0D}"/>
              </a:ext>
            </a:extLst>
          </p:cNvPr>
          <p:cNvSpPr>
            <a:spLocks noGrp="1"/>
          </p:cNvSpPr>
          <p:nvPr>
            <p:ph sz="quarter" idx="13"/>
          </p:nvPr>
        </p:nvSpPr>
        <p:spPr>
          <a:xfrm>
            <a:off x="914399" y="1871792"/>
            <a:ext cx="10363826" cy="2443033"/>
          </a:xfrm>
        </p:spPr>
        <p:txBody>
          <a:bodyPr>
            <a:normAutofit fontScale="77500" lnSpcReduction="20000"/>
          </a:bodyPr>
          <a:lstStyle/>
          <a:p>
            <a:pPr algn="just"/>
            <a:r>
              <a:rPr lang="en-US" dirty="0"/>
              <a:t>age marked by increasingly urgent environmental challenges and by the critical importance of sustainable development. </a:t>
            </a:r>
          </a:p>
          <a:p>
            <a:pPr algn="just"/>
            <a:r>
              <a:rPr lang="en-US" dirty="0"/>
              <a:t>timely initiative IN  modern academic sphere, fostering a strong connection between </a:t>
            </a:r>
          </a:p>
          <a:p>
            <a:pPr algn="just"/>
            <a:r>
              <a:rPr lang="en-US" dirty="0"/>
              <a:t>technology</a:t>
            </a:r>
          </a:p>
          <a:p>
            <a:pPr algn="just"/>
            <a:r>
              <a:rPr lang="en-US" dirty="0"/>
              <a:t>research</a:t>
            </a:r>
          </a:p>
          <a:p>
            <a:pPr algn="just"/>
            <a:r>
              <a:rPr lang="en-US" dirty="0"/>
              <a:t>policy making</a:t>
            </a:r>
          </a:p>
          <a:p>
            <a:pPr algn="just"/>
            <a:r>
              <a:rPr lang="en-US" dirty="0"/>
              <a:t>successful practical implementation for a sustainable future. </a:t>
            </a:r>
          </a:p>
          <a:p>
            <a:pPr algn="just"/>
            <a:endParaRPr lang="en-US" dirty="0"/>
          </a:p>
          <a:p>
            <a:pPr algn="just"/>
            <a:endParaRPr lang="en-US" dirty="0"/>
          </a:p>
        </p:txBody>
      </p:sp>
    </p:spTree>
    <p:extLst>
      <p:ext uri="{BB962C8B-B14F-4D97-AF65-F5344CB8AC3E}">
        <p14:creationId xmlns:p14="http://schemas.microsoft.com/office/powerpoint/2010/main" val="1274223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40219-3A34-4043-95AF-1FAAA37F91EF}"/>
              </a:ext>
            </a:extLst>
          </p:cNvPr>
          <p:cNvSpPr>
            <a:spLocks noGrp="1"/>
          </p:cNvSpPr>
          <p:nvPr>
            <p:ph type="ctrTitle"/>
          </p:nvPr>
        </p:nvSpPr>
        <p:spPr>
          <a:xfrm>
            <a:off x="1634471" y="655327"/>
            <a:ext cx="8689976" cy="662485"/>
          </a:xfrm>
        </p:spPr>
        <p:txBody>
          <a:bodyPr>
            <a:normAutofit/>
          </a:bodyPr>
          <a:lstStyle/>
          <a:p>
            <a:r>
              <a:rPr lang="en-US" sz="2000" b="1" cap="none" dirty="0">
                <a:effectLst/>
                <a:latin typeface="Times New Roman" panose="02020603050405020304" pitchFamily="18" charset="0"/>
                <a:ea typeface="Times New Roman" panose="02020603050405020304" pitchFamily="18" charset="0"/>
                <a:cs typeface="Times New Roman" panose="02020603050405020304" pitchFamily="18" charset="0"/>
              </a:rPr>
              <a:t>Intelligent Computing for sustainability</a:t>
            </a:r>
            <a:b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b="1" dirty="0"/>
          </a:p>
        </p:txBody>
      </p:sp>
      <p:sp>
        <p:nvSpPr>
          <p:cNvPr id="3" name="Subtitle 2">
            <a:extLst>
              <a:ext uri="{FF2B5EF4-FFF2-40B4-BE49-F238E27FC236}">
                <a16:creationId xmlns:a16="http://schemas.microsoft.com/office/drawing/2014/main" id="{FC670EAA-5F43-4FC9-AFB7-37250AFF8DC6}"/>
              </a:ext>
            </a:extLst>
          </p:cNvPr>
          <p:cNvSpPr>
            <a:spLocks noGrp="1"/>
          </p:cNvSpPr>
          <p:nvPr>
            <p:ph type="subTitle" idx="1"/>
          </p:nvPr>
        </p:nvSpPr>
        <p:spPr>
          <a:xfrm>
            <a:off x="1751012" y="1613648"/>
            <a:ext cx="9075032" cy="4945196"/>
          </a:xfrm>
        </p:spPr>
        <p:txBody>
          <a:bodyPr>
            <a:noAutofit/>
          </a:bodyPr>
          <a:lstStyle/>
          <a:p>
            <a:pPr algn="l">
              <a:lnSpc>
                <a:spcPct val="115000"/>
              </a:lnSpc>
              <a:spcAft>
                <a:spcPts val="1000"/>
              </a:spcAft>
            </a:pPr>
            <a:r>
              <a:rPr lang="en-US" sz="14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dirty="0">
                <a:solidFill>
                  <a:schemeClr val="tx1"/>
                </a:solidFill>
              </a:rPr>
              <a:t>applying intelligent computing techniques for sustainable development in </a:t>
            </a:r>
          </a:p>
          <a:p>
            <a:pPr marL="285750" indent="-285750" algn="l">
              <a:lnSpc>
                <a:spcPct val="115000"/>
              </a:lnSpc>
              <a:spcAft>
                <a:spcPts val="1000"/>
              </a:spcAft>
              <a:buFont typeface="Arial" panose="020B0604020202020204" pitchFamily="34" charset="0"/>
              <a:buChar char="•"/>
            </a:pPr>
            <a:r>
              <a:rPr lang="en-US" sz="1400" dirty="0">
                <a:solidFill>
                  <a:schemeClr val="tx1"/>
                </a:solidFill>
              </a:rPr>
              <a:t> agriculture</a:t>
            </a:r>
          </a:p>
          <a:p>
            <a:pPr marL="285750" indent="-285750" algn="l">
              <a:lnSpc>
                <a:spcPct val="115000"/>
              </a:lnSpc>
              <a:spcAft>
                <a:spcPts val="1000"/>
              </a:spcAft>
              <a:buFont typeface="Arial" panose="020B0604020202020204" pitchFamily="34" charset="0"/>
              <a:buChar char="•"/>
            </a:pPr>
            <a:r>
              <a:rPr lang="en-US" sz="1400" dirty="0">
                <a:solidFill>
                  <a:schemeClr val="tx1"/>
                </a:solidFill>
              </a:rPr>
              <a:t> digital healthcare</a:t>
            </a:r>
          </a:p>
          <a:p>
            <a:pPr marL="285750" indent="-285750" algn="l">
              <a:lnSpc>
                <a:spcPct val="115000"/>
              </a:lnSpc>
              <a:spcAft>
                <a:spcPts val="1000"/>
              </a:spcAft>
              <a:buFont typeface="Arial" panose="020B0604020202020204" pitchFamily="34" charset="0"/>
              <a:buChar char="•"/>
            </a:pPr>
            <a:r>
              <a:rPr lang="en-US" sz="1400" dirty="0">
                <a:solidFill>
                  <a:schemeClr val="tx1"/>
                </a:solidFill>
              </a:rPr>
              <a:t>renewable energy</a:t>
            </a:r>
          </a:p>
          <a:p>
            <a:pPr marL="285750" indent="-285750" algn="l">
              <a:lnSpc>
                <a:spcPct val="115000"/>
              </a:lnSpc>
              <a:spcAft>
                <a:spcPts val="1000"/>
              </a:spcAft>
              <a:buFont typeface="Arial" panose="020B0604020202020204" pitchFamily="34" charset="0"/>
              <a:buChar char="•"/>
            </a:pPr>
            <a:r>
              <a:rPr lang="en-US" sz="1400" dirty="0">
                <a:solidFill>
                  <a:schemeClr val="tx1"/>
                </a:solidFill>
              </a:rPr>
              <a:t>smart cities</a:t>
            </a:r>
          </a:p>
          <a:p>
            <a:pPr marL="285750" indent="-285750" algn="l">
              <a:lnSpc>
                <a:spcPct val="115000"/>
              </a:lnSpc>
              <a:spcAft>
                <a:spcPts val="1000"/>
              </a:spcAft>
              <a:buFont typeface="Arial" panose="020B0604020202020204" pitchFamily="34" charset="0"/>
              <a:buChar char="•"/>
            </a:pPr>
            <a:r>
              <a:rPr lang="en-US" sz="1400" dirty="0">
                <a:solidFill>
                  <a:schemeClr val="tx1"/>
                </a:solidFill>
              </a:rPr>
              <a:t>autonomous systems. </a:t>
            </a:r>
          </a:p>
          <a:p>
            <a:pPr marL="285750" indent="-285750" algn="l">
              <a:lnSpc>
                <a:spcPct val="115000"/>
              </a:lnSpc>
              <a:spcAft>
                <a:spcPts val="1000"/>
              </a:spcAft>
              <a:buFont typeface="Arial" panose="020B0604020202020204" pitchFamily="34" charset="0"/>
              <a:buChar char="•"/>
            </a:pPr>
            <a:endParaRPr lang="en-US" sz="1400"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14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1282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24782-51C2-4E47-9350-FD5DDDB5287C}"/>
              </a:ext>
            </a:extLst>
          </p:cNvPr>
          <p:cNvSpPr>
            <a:spLocks noGrp="1"/>
          </p:cNvSpPr>
          <p:nvPr>
            <p:ph type="title"/>
          </p:nvPr>
        </p:nvSpPr>
        <p:spPr>
          <a:xfrm>
            <a:off x="913775" y="618517"/>
            <a:ext cx="10364451" cy="1030989"/>
          </a:xfrm>
        </p:spPr>
        <p:txBody>
          <a:bodyPr/>
          <a:lstStyle/>
          <a:p>
            <a:endParaRPr lang="en-US"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8A4C203-9186-43E8-A02F-C35112BF473B}"/>
              </a:ext>
            </a:extLst>
          </p:cNvPr>
          <p:cNvSpPr>
            <a:spLocks noGrp="1"/>
          </p:cNvSpPr>
          <p:nvPr>
            <p:ph sz="quarter" idx="13"/>
          </p:nvPr>
        </p:nvSpPr>
        <p:spPr>
          <a:xfrm>
            <a:off x="913774" y="1712259"/>
            <a:ext cx="10363826" cy="4078940"/>
          </a:xfrm>
        </p:spPr>
        <p:txBody>
          <a:bodyPr>
            <a:normAutofit/>
          </a:bodyPr>
          <a:lstStyle/>
          <a:p>
            <a:pPr marL="0" indent="0">
              <a:buNone/>
            </a:pPr>
            <a:endParaRPr lang="en-US" sz="1600" b="1" cap="none" dirty="0">
              <a:latin typeface="Times New Roman" panose="02020603050405020304" pitchFamily="18" charset="0"/>
              <a:cs typeface="Times New Roman" panose="02020603050405020304" pitchFamily="18" charset="0"/>
            </a:endParaRPr>
          </a:p>
          <a:p>
            <a:pPr marL="0" indent="0">
              <a:buNone/>
            </a:pPr>
            <a:r>
              <a:rPr lang="en-US" sz="1600" dirty="0"/>
              <a:t>highly relevant Areas for achieving sustainable development goals such as </a:t>
            </a:r>
          </a:p>
          <a:p>
            <a:r>
              <a:rPr lang="en-US" sz="1600" dirty="0"/>
              <a:t>zero hunger</a:t>
            </a:r>
          </a:p>
          <a:p>
            <a:r>
              <a:rPr lang="en-US" sz="1600" dirty="0"/>
              <a:t>good health and well-being</a:t>
            </a:r>
          </a:p>
          <a:p>
            <a:r>
              <a:rPr lang="en-US" sz="1600" dirty="0"/>
              <a:t> industry innovation and infrastructure. </a:t>
            </a:r>
          </a:p>
          <a:p>
            <a:r>
              <a:rPr lang="en-US" sz="1600" dirty="0"/>
              <a:t>bridges the gap between artificial intelligence and sustainable solutions with cutting-edge research and practical applications aimed at addressing environmental challenges. </a:t>
            </a:r>
          </a:p>
          <a:p>
            <a:r>
              <a:rPr lang="en-US" sz="1600" dirty="0"/>
              <a:t>how intelligent systems can drive transformation to meet global sustainability goals. </a:t>
            </a:r>
          </a:p>
          <a:p>
            <a:r>
              <a:rPr lang="en-US" sz="1600" dirty="0"/>
              <a:t>Through interdisciplinary approach,  collaborations ARE ENCOURAGED across sectors to create sustainable solutions.</a:t>
            </a:r>
            <a:endParaRPr lang="en-US" sz="1600" b="1"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2183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CCC6F-6E84-4B9C-8BB0-A8225B6E6947}"/>
              </a:ext>
            </a:extLst>
          </p:cNvPr>
          <p:cNvSpPr>
            <a:spLocks noGrp="1"/>
          </p:cNvSpPr>
          <p:nvPr>
            <p:ph type="title"/>
          </p:nvPr>
        </p:nvSpPr>
        <p:spPr>
          <a:xfrm>
            <a:off x="1712259" y="618518"/>
            <a:ext cx="8910917" cy="788942"/>
          </a:xfrm>
        </p:spPr>
        <p:txBody>
          <a:bodyPr>
            <a:normAutofit/>
          </a:bodyPr>
          <a:lstStyle/>
          <a:p>
            <a:r>
              <a:rPr lang="en-US" sz="1800" b="1" cap="none" dirty="0">
                <a:solidFill>
                  <a:srgbClr val="333E48"/>
                </a:solidFill>
                <a:effectLst/>
                <a:latin typeface="Helvetica" panose="020B0604020202020204" pitchFamily="34" charset="0"/>
                <a:cs typeface="Times New Roman" panose="02020603050405020304" pitchFamily="18" charset="0"/>
              </a:rPr>
              <a:t>Why FPGA?</a:t>
            </a:r>
            <a:br>
              <a:rPr lang="en-US" sz="1600" b="1" cap="none" dirty="0">
                <a:solidFill>
                  <a:srgbClr val="4F81BD"/>
                </a:solidFill>
                <a:effectLst/>
                <a:latin typeface="Cambria" panose="02040503050406030204" pitchFamily="18" charset="0"/>
              </a:rPr>
            </a:br>
            <a:endParaRPr lang="en-US" sz="1600" cap="none" dirty="0"/>
          </a:p>
        </p:txBody>
      </p:sp>
      <p:sp>
        <p:nvSpPr>
          <p:cNvPr id="3" name="Content Placeholder 2">
            <a:extLst>
              <a:ext uri="{FF2B5EF4-FFF2-40B4-BE49-F238E27FC236}">
                <a16:creationId xmlns:a16="http://schemas.microsoft.com/office/drawing/2014/main" id="{93C621B7-268E-46AE-B317-CB173AEF5F51}"/>
              </a:ext>
            </a:extLst>
          </p:cNvPr>
          <p:cNvSpPr>
            <a:spLocks noGrp="1"/>
          </p:cNvSpPr>
          <p:nvPr>
            <p:ph sz="quarter" idx="13"/>
          </p:nvPr>
        </p:nvSpPr>
        <p:spPr>
          <a:xfrm>
            <a:off x="914087" y="1497106"/>
            <a:ext cx="10363826" cy="3783106"/>
          </a:xfrm>
        </p:spPr>
        <p:txBody>
          <a:bodyPr>
            <a:noAutofit/>
          </a:bodyPr>
          <a:lstStyle/>
          <a:p>
            <a:pPr marL="342900" lvl="0" indent="-342900">
              <a:lnSpc>
                <a:spcPts val="2275"/>
              </a:lnSpc>
              <a:spcAft>
                <a:spcPts val="1200"/>
              </a:spcAft>
              <a:buFont typeface="Symbol" panose="05050102010706020507" pitchFamily="18" charset="2"/>
              <a:buChar char=""/>
            </a:pPr>
            <a:r>
              <a:rPr lang="en-US" sz="1400" cap="none" spc="50" dirty="0">
                <a:solidFill>
                  <a:srgbClr val="333E48"/>
                </a:solidFill>
                <a:effectLst/>
                <a:latin typeface="Times New Roman" panose="02020603050405020304" pitchFamily="18" charset="0"/>
                <a:ea typeface="Times New Roman" panose="02020603050405020304" pitchFamily="18" charset="0"/>
                <a:cs typeface="Times New Roman" panose="02020603050405020304" pitchFamily="18" charset="0"/>
              </a:rPr>
              <a:t> Versatile</a:t>
            </a:r>
            <a:endPar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2275"/>
              </a:lnSpc>
              <a:spcAft>
                <a:spcPts val="1200"/>
              </a:spcAft>
              <a:buFont typeface="Symbol" panose="05050102010706020507" pitchFamily="18" charset="2"/>
              <a:buChar char=""/>
            </a:pPr>
            <a:r>
              <a:rPr lang="en-US" sz="1400" cap="none" spc="50" dirty="0">
                <a:solidFill>
                  <a:srgbClr val="333E48"/>
                </a:solidFill>
                <a:effectLst/>
                <a:latin typeface="Times New Roman" panose="02020603050405020304" pitchFamily="18" charset="0"/>
                <a:ea typeface="Times New Roman" panose="02020603050405020304" pitchFamily="18" charset="0"/>
                <a:cs typeface="Times New Roman" panose="02020603050405020304" pitchFamily="18" charset="0"/>
              </a:rPr>
              <a:t>Developers can  test any number of variables after the board is built. </a:t>
            </a:r>
            <a:endPar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2275"/>
              </a:lnSpc>
              <a:spcAft>
                <a:spcPts val="1200"/>
              </a:spcAft>
              <a:buFont typeface="Symbol" panose="05050102010706020507" pitchFamily="18" charset="2"/>
              <a:buChar char=""/>
            </a:pPr>
            <a:r>
              <a:rPr lang="en-US" sz="1400" cap="none" spc="50" dirty="0">
                <a:solidFill>
                  <a:srgbClr val="333E48"/>
                </a:solidFill>
                <a:effectLst/>
                <a:latin typeface="Times New Roman" panose="02020603050405020304" pitchFamily="18" charset="0"/>
                <a:ea typeface="Times New Roman" panose="02020603050405020304" pitchFamily="18" charset="0"/>
                <a:cs typeface="Times New Roman" panose="02020603050405020304" pitchFamily="18" charset="0"/>
              </a:rPr>
              <a:t>When changes are required, new configuration files are transferred onto the device that make new functionality available. </a:t>
            </a:r>
            <a:endPar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2275"/>
              </a:lnSpc>
              <a:spcAft>
                <a:spcPts val="1200"/>
              </a:spcAft>
              <a:buFont typeface="Symbol" panose="05050102010706020507" pitchFamily="18" charset="2"/>
              <a:buChar char=""/>
            </a:pPr>
            <a:r>
              <a:rPr lang="en-US" sz="1400" cap="none" spc="50" dirty="0">
                <a:solidFill>
                  <a:srgbClr val="333E48"/>
                </a:solidFill>
                <a:effectLst/>
                <a:latin typeface="Times New Roman" panose="02020603050405020304" pitchFamily="18" charset="0"/>
                <a:ea typeface="Times New Roman" panose="02020603050405020304" pitchFamily="18" charset="0"/>
                <a:cs typeface="Times New Roman" panose="02020603050405020304" pitchFamily="18" charset="0"/>
              </a:rPr>
              <a:t>This flexibility allows OEMs  to ship systems earlier in the design process. Developers design prototypes on FPGA to incrementally mature the design before finalizing it at tape-out. </a:t>
            </a:r>
            <a:endPar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2275"/>
              </a:lnSpc>
              <a:spcAft>
                <a:spcPts val="1200"/>
              </a:spcAft>
              <a:buFont typeface="Symbol" panose="05050102010706020507" pitchFamily="18" charset="2"/>
              <a:buChar char=""/>
            </a:pPr>
            <a:r>
              <a:rPr lang="en-US" sz="1400" cap="none" spc="50" dirty="0">
                <a:solidFill>
                  <a:srgbClr val="333E48"/>
                </a:solidFill>
                <a:effectLst/>
                <a:latin typeface="Times New Roman" panose="02020603050405020304" pitchFamily="18" charset="0"/>
                <a:ea typeface="Times New Roman" panose="02020603050405020304" pitchFamily="18" charset="0"/>
                <a:cs typeface="Times New Roman" panose="02020603050405020304" pitchFamily="18" charset="0"/>
              </a:rPr>
              <a:t>FPGAs are often used in commercial applications where there’s a need for parallel computing and the requirements are dynamic, such as for telecoms and avionics [2].</a:t>
            </a:r>
          </a:p>
          <a:p>
            <a:pPr marL="0" lvl="0" indent="0">
              <a:lnSpc>
                <a:spcPts val="2275"/>
              </a:lnSpc>
              <a:spcAft>
                <a:spcPts val="1200"/>
              </a:spcAft>
              <a:buNone/>
            </a:pPr>
            <a:br>
              <a:rPr lang="en-US" sz="1400" cap="none" spc="50" dirty="0">
                <a:solidFill>
                  <a:srgbClr val="333E48"/>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1400" cap="none" spc="50" dirty="0">
                <a:solidFill>
                  <a:srgbClr val="333E48"/>
                </a:solidFill>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1400" dirty="0"/>
          </a:p>
        </p:txBody>
      </p:sp>
    </p:spTree>
    <p:extLst>
      <p:ext uri="{BB962C8B-B14F-4D97-AF65-F5344CB8AC3E}">
        <p14:creationId xmlns:p14="http://schemas.microsoft.com/office/powerpoint/2010/main" val="2128896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51AC28-D24B-4DC8-A6C9-40E84403F1DC}"/>
              </a:ext>
            </a:extLst>
          </p:cNvPr>
          <p:cNvSpPr>
            <a:spLocks noGrp="1"/>
          </p:cNvSpPr>
          <p:nvPr>
            <p:ph sz="quarter" idx="13"/>
          </p:nvPr>
        </p:nvSpPr>
        <p:spPr>
          <a:xfrm>
            <a:off x="914087" y="1205753"/>
            <a:ext cx="10363826" cy="4446493"/>
          </a:xfrm>
        </p:spPr>
        <p:txBody>
          <a:bodyPr>
            <a:normAutofit/>
          </a:bodyPr>
          <a:lstStyle/>
          <a:p>
            <a:pPr marL="0" lvl="0" indent="0" algn="ctr">
              <a:lnSpc>
                <a:spcPts val="2275"/>
              </a:lnSpc>
              <a:spcAft>
                <a:spcPts val="1200"/>
              </a:spcAft>
              <a:buNone/>
            </a:pPr>
            <a:r>
              <a:rPr lang="en-US" sz="1800" b="1" cap="none" spc="50" dirty="0">
                <a:solidFill>
                  <a:srgbClr val="333E48"/>
                </a:solidFill>
                <a:effectLst/>
                <a:latin typeface="Times New Roman" panose="02020603050405020304" pitchFamily="18" charset="0"/>
                <a:ea typeface="Times New Roman" panose="02020603050405020304" pitchFamily="18" charset="0"/>
                <a:cs typeface="Times New Roman" panose="02020603050405020304" pitchFamily="18" charset="0"/>
              </a:rPr>
              <a:t>      FPGAs ……. the best solution </a:t>
            </a:r>
          </a:p>
          <a:p>
            <a:pPr>
              <a:lnSpc>
                <a:spcPts val="2275"/>
              </a:lnSpc>
              <a:spcAft>
                <a:spcPts val="1200"/>
              </a:spcAft>
            </a:pPr>
            <a:r>
              <a:rPr lang="en-US" sz="1400" cap="none" dirty="0">
                <a:solidFill>
                  <a:srgbClr val="333E48"/>
                </a:solidFill>
                <a:latin typeface="Times New Roman" panose="02020603050405020304" pitchFamily="18" charset="0"/>
                <a:cs typeface="Times New Roman" panose="02020603050405020304" pitchFamily="18" charset="0"/>
              </a:rPr>
              <a:t>  Low Price</a:t>
            </a:r>
          </a:p>
          <a:p>
            <a:pPr marL="342900" lvl="0" indent="-342900">
              <a:lnSpc>
                <a:spcPts val="2275"/>
              </a:lnSpc>
              <a:spcAft>
                <a:spcPts val="855"/>
              </a:spcAft>
              <a:buSzPts val="1000"/>
              <a:buFont typeface="Symbol" panose="05050102010706020507" pitchFamily="18" charset="2"/>
              <a:buChar char=""/>
              <a:tabLst>
                <a:tab pos="457200" algn="l"/>
              </a:tabLst>
            </a:pPr>
            <a:r>
              <a:rPr lang="en-US" sz="1400" cap="none" dirty="0">
                <a:solidFill>
                  <a:srgbClr val="333E48"/>
                </a:solidFill>
                <a:effectLst/>
                <a:latin typeface="Times New Roman" panose="02020603050405020304" pitchFamily="18" charset="0"/>
                <a:ea typeface="Times New Roman" panose="02020603050405020304" pitchFamily="18" charset="0"/>
                <a:cs typeface="Times New Roman" panose="02020603050405020304" pitchFamily="18" charset="0"/>
              </a:rPr>
              <a:t>Hardware prototyping, to verify digital hardware designs without the  cost of ASIC </a:t>
            </a:r>
            <a:endPar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2275"/>
              </a:lnSpc>
              <a:spcAft>
                <a:spcPts val="855"/>
              </a:spcAft>
              <a:buSzPts val="1000"/>
              <a:buFont typeface="Symbol" panose="05050102010706020507" pitchFamily="18" charset="2"/>
              <a:buChar char=""/>
              <a:tabLst>
                <a:tab pos="457200" algn="l"/>
              </a:tabLst>
            </a:pPr>
            <a:r>
              <a:rPr lang="en-US" sz="1400" cap="none" dirty="0">
                <a:solidFill>
                  <a:srgbClr val="333E48"/>
                </a:solidFill>
                <a:effectLst/>
                <a:latin typeface="Times New Roman" panose="02020603050405020304" pitchFamily="18" charset="0"/>
                <a:ea typeface="Times New Roman" panose="02020603050405020304" pitchFamily="18" charset="0"/>
                <a:cs typeface="Times New Roman" panose="02020603050405020304" pitchFamily="18" charset="0"/>
              </a:rPr>
              <a:t>Hardware acceleration,  to speed designs.</a:t>
            </a:r>
            <a:endPar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2275"/>
              </a:lnSpc>
              <a:spcAft>
                <a:spcPts val="855"/>
              </a:spcAft>
              <a:buSzPts val="1000"/>
              <a:buFont typeface="Symbol" panose="05050102010706020507" pitchFamily="18" charset="2"/>
              <a:buChar char=""/>
              <a:tabLst>
                <a:tab pos="457200" algn="l"/>
              </a:tabLst>
            </a:pPr>
            <a:r>
              <a:rPr lang="en-US" sz="1400" cap="none" dirty="0">
                <a:solidFill>
                  <a:srgbClr val="333E48"/>
                </a:solidFill>
                <a:effectLst/>
                <a:latin typeface="Times New Roman" panose="02020603050405020304" pitchFamily="18" charset="0"/>
                <a:ea typeface="Times New Roman" panose="02020603050405020304" pitchFamily="18" charset="0"/>
                <a:cs typeface="Times New Roman" panose="02020603050405020304" pitchFamily="18" charset="0"/>
              </a:rPr>
              <a:t>Space avionics, where radiation hardened </a:t>
            </a:r>
            <a:r>
              <a:rPr lang="en-US" sz="1400" cap="none" dirty="0">
                <a:solidFill>
                  <a:srgbClr val="333E48"/>
                </a:solidFill>
                <a:latin typeface="Times New Roman" panose="02020603050405020304" pitchFamily="18" charset="0"/>
                <a:ea typeface="Times New Roman" panose="02020603050405020304" pitchFamily="18" charset="0"/>
                <a:cs typeface="Times New Roman" panose="02020603050405020304" pitchFamily="18" charset="0"/>
              </a:rPr>
              <a:t>F</a:t>
            </a:r>
            <a:r>
              <a:rPr lang="en-US" sz="1400" cap="none" dirty="0">
                <a:solidFill>
                  <a:srgbClr val="333E48"/>
                </a:solidFill>
                <a:effectLst/>
                <a:latin typeface="Times New Roman" panose="02020603050405020304" pitchFamily="18" charset="0"/>
                <a:ea typeface="Times New Roman" panose="02020603050405020304" pitchFamily="18" charset="0"/>
                <a:cs typeface="Times New Roman" panose="02020603050405020304" pitchFamily="18" charset="0"/>
              </a:rPr>
              <a:t>PGAs in satellites can receive new configuration files to execute upgrades, install new features, or fix bugs without physical access.</a:t>
            </a:r>
            <a:endPar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2275"/>
              </a:lnSpc>
              <a:spcAft>
                <a:spcPts val="855"/>
              </a:spcAft>
              <a:buSzPts val="1000"/>
              <a:buFont typeface="Symbol" panose="05050102010706020507" pitchFamily="18" charset="2"/>
              <a:buChar char=""/>
              <a:tabLst>
                <a:tab pos="457200" algn="l"/>
              </a:tabLst>
            </a:pPr>
            <a:r>
              <a:rPr lang="en-US" sz="1400" cap="none" dirty="0">
                <a:solidFill>
                  <a:srgbClr val="333E48"/>
                </a:solidFill>
                <a:effectLst/>
                <a:latin typeface="Times New Roman" panose="02020603050405020304" pitchFamily="18" charset="0"/>
                <a:ea typeface="Times New Roman" panose="02020603050405020304" pitchFamily="18" charset="0"/>
                <a:cs typeface="Times New Roman" panose="02020603050405020304" pitchFamily="18" charset="0"/>
              </a:rPr>
              <a:t>Neural networks, where the design topology better fits an FPGA and can accelerate matrix multiplication[2]</a:t>
            </a:r>
          </a:p>
          <a:p>
            <a:pPr marL="0" lvl="0" indent="0">
              <a:lnSpc>
                <a:spcPts val="2275"/>
              </a:lnSpc>
              <a:spcAft>
                <a:spcPts val="855"/>
              </a:spcAft>
              <a:buSzPts val="1000"/>
              <a:buNone/>
              <a:tabLst>
                <a:tab pos="457200" algn="l"/>
              </a:tabLst>
            </a:pPr>
            <a:endPar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1499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BF0F0-194F-46AE-9167-D82B0828C31B}"/>
              </a:ext>
            </a:extLst>
          </p:cNvPr>
          <p:cNvSpPr>
            <a:spLocks noGrp="1"/>
          </p:cNvSpPr>
          <p:nvPr>
            <p:ph type="title"/>
          </p:nvPr>
        </p:nvSpPr>
        <p:spPr>
          <a:xfrm>
            <a:off x="1846730" y="618518"/>
            <a:ext cx="8453718" cy="1039954"/>
          </a:xfrm>
        </p:spPr>
        <p:txBody>
          <a:bodyPr/>
          <a:lstStyle/>
          <a:p>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FPGA </a:t>
            </a:r>
            <a:r>
              <a:rPr lang="en-US" sz="1800" b="1" cap="none" dirty="0">
                <a:effectLst/>
                <a:latin typeface="Times New Roman" panose="02020603050405020304" pitchFamily="18" charset="0"/>
                <a:ea typeface="Times New Roman" panose="02020603050405020304" pitchFamily="18" charset="0"/>
                <a:cs typeface="Times New Roman" panose="02020603050405020304" pitchFamily="18" charset="0"/>
              </a:rPr>
              <a:t>Hardware Evolution</a:t>
            </a:r>
            <a:br>
              <a:rPr lang="en-US" dirty="0">
                <a:effectLst/>
                <a:latin typeface="Calibri" panose="020F0502020204030204" pitchFamily="34" charset="0"/>
                <a:ea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CEF305B-7305-48C2-B420-5B0D6C1F2C9D}"/>
              </a:ext>
            </a:extLst>
          </p:cNvPr>
          <p:cNvSpPr>
            <a:spLocks noGrp="1"/>
          </p:cNvSpPr>
          <p:nvPr>
            <p:ph sz="quarter" idx="13"/>
          </p:nvPr>
        </p:nvSpPr>
        <p:spPr>
          <a:xfrm>
            <a:off x="913774" y="1434354"/>
            <a:ext cx="10363826" cy="4356846"/>
          </a:xfrm>
        </p:spPr>
        <p:txBody>
          <a:bodyPr>
            <a:normAutofit lnSpcReduction="10000"/>
          </a:bodyPr>
          <a:lstStyle/>
          <a:p>
            <a:pPr marL="0" lvl="0" indent="0">
              <a:lnSpc>
                <a:spcPct val="115000"/>
              </a:lnSpc>
              <a:spcAft>
                <a:spcPts val="1000"/>
              </a:spcAft>
              <a:buNone/>
            </a:pPr>
            <a:r>
              <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rPr>
              <a:t>Xilinx corporation (acquired by AMD in 2022) invented the first commercial FPGA– XC2064 in 1985. The device contains 64 programmable logic units consisting of two 3-input </a:t>
            </a:r>
            <a:r>
              <a:rPr lang="en-US" sz="1400" i="1" cap="none" dirty="0">
                <a:effectLst/>
                <a:latin typeface="Times New Roman" panose="02020603050405020304" pitchFamily="18" charset="0"/>
                <a:ea typeface="Times New Roman" panose="02020603050405020304" pitchFamily="18" charset="0"/>
                <a:cs typeface="Times New Roman" panose="02020603050405020304" pitchFamily="18" charset="0"/>
              </a:rPr>
              <a:t>look-up tables </a:t>
            </a:r>
            <a:r>
              <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rPr>
              <a:t>(LUTs) and an </a:t>
            </a:r>
            <a:r>
              <a:rPr lang="en-US" sz="1400" i="1" cap="none" dirty="0">
                <a:effectLst/>
                <a:latin typeface="Times New Roman" panose="02020603050405020304" pitchFamily="18" charset="0"/>
                <a:ea typeface="Times New Roman" panose="02020603050405020304" pitchFamily="18" charset="0"/>
                <a:cs typeface="Times New Roman" panose="02020603050405020304" pitchFamily="18" charset="0"/>
              </a:rPr>
              <a:t>flip-flop </a:t>
            </a:r>
            <a:r>
              <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rPr>
              <a:t>(FF), enabling true “field” programmability for the first time. IEEE listed </a:t>
            </a:r>
            <a:r>
              <a:rPr lang="en-US" sz="1400" cap="none" dirty="0">
                <a:latin typeface="Times New Roman" panose="02020603050405020304" pitchFamily="18" charset="0"/>
                <a:ea typeface="Times New Roman" panose="02020603050405020304" pitchFamily="18" charset="0"/>
                <a:cs typeface="Times New Roman" panose="02020603050405020304" pitchFamily="18" charset="0"/>
              </a:rPr>
              <a:t>X</a:t>
            </a:r>
            <a:r>
              <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rPr>
              <a:t>ilinx XC2064 as one of the “25 microchips that shook the world” in 2009 and inducted it into the “chip hall of fame” in 2017 [3].</a:t>
            </a:r>
          </a:p>
          <a:p>
            <a:pPr marL="0" lvl="0" indent="0">
              <a:lnSpc>
                <a:spcPct val="115000"/>
              </a:lnSpc>
              <a:spcAft>
                <a:spcPts val="1000"/>
              </a:spcAft>
              <a:buNone/>
            </a:pPr>
            <a:endParaRPr lang="en-US" sz="1400" cap="none" dirty="0">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nSpc>
                <a:spcPct val="115000"/>
              </a:lnSpc>
              <a:spcAft>
                <a:spcPts val="1000"/>
              </a:spcAft>
              <a:buNone/>
            </a:pPr>
            <a:endPar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nSpc>
                <a:spcPct val="115000"/>
              </a:lnSpc>
              <a:spcAft>
                <a:spcPts val="1000"/>
              </a:spcAft>
              <a:buNone/>
            </a:pPr>
            <a:endParaRPr lang="en-US" sz="1400" cap="none" dirty="0">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nSpc>
                <a:spcPct val="115000"/>
              </a:lnSpc>
              <a:spcAft>
                <a:spcPts val="1000"/>
              </a:spcAft>
              <a:buNone/>
            </a:pPr>
            <a:endPar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ctr">
              <a:lnSpc>
                <a:spcPct val="115000"/>
              </a:lnSpc>
              <a:spcAft>
                <a:spcPts val="1000"/>
              </a:spcAft>
              <a:buNone/>
            </a:pPr>
            <a:r>
              <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rPr>
              <a:t>Fig 1: World’s first </a:t>
            </a:r>
            <a:r>
              <a:rPr lang="en-US" sz="1400" cap="none" dirty="0" err="1">
                <a:effectLst/>
                <a:latin typeface="Times New Roman" panose="02020603050405020304" pitchFamily="18" charset="0"/>
                <a:ea typeface="Times New Roman" panose="02020603050405020304" pitchFamily="18" charset="0"/>
                <a:cs typeface="Times New Roman" panose="02020603050405020304" pitchFamily="18" charset="0"/>
              </a:rPr>
              <a:t>fpga</a:t>
            </a:r>
            <a:r>
              <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400" cap="none" dirty="0" err="1">
                <a:effectLst/>
                <a:latin typeface="Times New Roman" panose="02020603050405020304" pitchFamily="18" charset="0"/>
                <a:ea typeface="Times New Roman" panose="02020603050405020304" pitchFamily="18" charset="0"/>
                <a:cs typeface="Times New Roman" panose="02020603050405020304" pitchFamily="18" charset="0"/>
              </a:rPr>
              <a:t>xilinx</a:t>
            </a:r>
            <a:r>
              <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rPr>
              <a:t> XC2064</a:t>
            </a:r>
          </a:p>
          <a:p>
            <a:pPr marL="0" lvl="0" indent="0">
              <a:lnSpc>
                <a:spcPct val="115000"/>
              </a:lnSpc>
              <a:spcAft>
                <a:spcPts val="1000"/>
              </a:spcAft>
              <a:buNone/>
            </a:pPr>
            <a:endPar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lnSpc>
                <a:spcPct val="115000"/>
              </a:lnSpc>
              <a:spcAft>
                <a:spcPts val="1000"/>
              </a:spcAft>
            </a:pPr>
            <a:r>
              <a:rPr lang="en-US" sz="1800" b="1" dirty="0">
                <a:effectLst/>
                <a:latin typeface="Comic Sans MS" panose="030F0702030302020204" pitchFamily="66" charset="0"/>
                <a:ea typeface="Times New Roman" panose="02020603050405020304" pitchFamily="18" charset="0"/>
                <a:cs typeface="TimesNewRoman,Bold"/>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pic>
        <p:nvPicPr>
          <p:cNvPr id="6" name="Picture 5">
            <a:extLst>
              <a:ext uri="{FF2B5EF4-FFF2-40B4-BE49-F238E27FC236}">
                <a16:creationId xmlns:a16="http://schemas.microsoft.com/office/drawing/2014/main" id="{DB973125-9855-410E-BA5F-A15F63BAB71E}"/>
              </a:ext>
            </a:extLst>
          </p:cNvPr>
          <p:cNvPicPr>
            <a:picLocks noChangeAspect="1"/>
          </p:cNvPicPr>
          <p:nvPr/>
        </p:nvPicPr>
        <p:blipFill>
          <a:blip r:embed="rId2"/>
          <a:stretch>
            <a:fillRect/>
          </a:stretch>
        </p:blipFill>
        <p:spPr>
          <a:xfrm>
            <a:off x="2384613" y="2604609"/>
            <a:ext cx="6768352" cy="1662591"/>
          </a:xfrm>
          <a:prstGeom prst="rect">
            <a:avLst/>
          </a:prstGeom>
        </p:spPr>
      </p:pic>
    </p:spTree>
    <p:extLst>
      <p:ext uri="{BB962C8B-B14F-4D97-AF65-F5344CB8AC3E}">
        <p14:creationId xmlns:p14="http://schemas.microsoft.com/office/powerpoint/2010/main" val="589671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D4B07-9D13-F6EF-1A3C-BD899270BF92}"/>
              </a:ext>
            </a:extLst>
          </p:cNvPr>
          <p:cNvSpPr>
            <a:spLocks noGrp="1"/>
          </p:cNvSpPr>
          <p:nvPr>
            <p:ph type="title"/>
          </p:nvPr>
        </p:nvSpPr>
        <p:spPr/>
        <p:txBody>
          <a:bodyPr/>
          <a:lstStyle/>
          <a:p>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FPGA</a:t>
            </a:r>
            <a:r>
              <a:rPr lang="en-US" sz="3600" b="1" cap="none" dirty="0">
                <a:effectLst/>
                <a:latin typeface="Times New Roman" panose="02020603050405020304" pitchFamily="18" charset="0"/>
                <a:ea typeface="Times New Roman" panose="02020603050405020304" pitchFamily="18" charset="0"/>
                <a:cs typeface="Times New Roman" panose="02020603050405020304" pitchFamily="18" charset="0"/>
              </a:rPr>
              <a:t> structure [4]</a:t>
            </a:r>
            <a:br>
              <a:rPr lang="en-US" sz="3600" b="1" cap="none"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C349AAFB-C02A-D420-3015-F95F2D7FEE3A}"/>
              </a:ext>
            </a:extLst>
          </p:cNvPr>
          <p:cNvSpPr>
            <a:spLocks noGrp="1"/>
          </p:cNvSpPr>
          <p:nvPr>
            <p:ph sz="quarter" idx="13"/>
          </p:nvPr>
        </p:nvSpPr>
        <p:spPr/>
        <p:txBody>
          <a:bodyPr>
            <a:normAutofit/>
          </a:bodyPr>
          <a:lstStyle/>
          <a:p>
            <a:pPr marL="0" indent="0">
              <a:buNone/>
            </a:pPr>
            <a:r>
              <a:rPr lang="en-US" cap="none" dirty="0"/>
              <a:t>Basic components:</a:t>
            </a:r>
          </a:p>
          <a:p>
            <a:r>
              <a:rPr lang="en-US" cap="none" dirty="0"/>
              <a:t> programmable logic element ( expresses a logic function)</a:t>
            </a:r>
          </a:p>
          <a:p>
            <a:r>
              <a:rPr lang="en-US" cap="none" dirty="0"/>
              <a:t>programmable </a:t>
            </a:r>
            <a:r>
              <a:rPr lang="en-US" cap="none" dirty="0" err="1"/>
              <a:t>i</a:t>
            </a:r>
            <a:r>
              <a:rPr lang="en-US" cap="none" dirty="0"/>
              <a:t>/o element ( provides an external interface)</a:t>
            </a:r>
          </a:p>
          <a:p>
            <a:r>
              <a:rPr lang="en-US" cap="none" dirty="0"/>
              <a:t>programmable interconnect element (connects different parts)</a:t>
            </a:r>
          </a:p>
          <a:p>
            <a:r>
              <a:rPr lang="en-US" cap="none" dirty="0"/>
              <a:t>there are also digital signal processing (</a:t>
            </a:r>
            <a:r>
              <a:rPr lang="en-US" cap="none" dirty="0" err="1"/>
              <a:t>dsp</a:t>
            </a:r>
            <a:r>
              <a:rPr lang="en-US" cap="none" dirty="0"/>
              <a:t>) units and embedded memory to increase the calculation ability, and phase-locked loop or delay-locked loop to provide a clock network. </a:t>
            </a:r>
          </a:p>
          <a:p>
            <a:r>
              <a:rPr lang="en-US" cap="none" dirty="0"/>
              <a:t>by downloading the design data to these elements, FPGA can implement the desired digital circuit</a:t>
            </a:r>
          </a:p>
        </p:txBody>
      </p:sp>
    </p:spTree>
    <p:extLst>
      <p:ext uri="{BB962C8B-B14F-4D97-AF65-F5344CB8AC3E}">
        <p14:creationId xmlns:p14="http://schemas.microsoft.com/office/powerpoint/2010/main" val="3355507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10">
            <a:extLst>
              <a:ext uri="{FF2B5EF4-FFF2-40B4-BE49-F238E27FC236}">
                <a16:creationId xmlns:a16="http://schemas.microsoft.com/office/drawing/2014/main" id="{C656B586-C446-539A-C95F-9247CACD3A00}"/>
              </a:ext>
            </a:extLst>
          </p:cNvPr>
          <p:cNvSpPr>
            <a:spLocks noGrp="1" noChangeAspect="1" noChangeArrowheads="1"/>
          </p:cNvSpPr>
          <p:nvPr>
            <p:ph type="title"/>
          </p:nvPr>
        </p:nvSpPr>
        <p:spPr bwMode="auto">
          <a:xfrm>
            <a:off x="913776" y="618517"/>
            <a:ext cx="6231304" cy="533571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p>
            <a:pPr marL="171450" indent="-171450" algn="l">
              <a:buFont typeface="Arial" panose="020B0604020202020204" pitchFamily="34" charset="0"/>
              <a:buChar char="•"/>
            </a:pPr>
            <a:r>
              <a:rPr lang="en-US" sz="1400" cap="none" dirty="0"/>
              <a:t>An island-style FPGA has </a:t>
            </a:r>
            <a:br>
              <a:rPr lang="en-US" sz="1400" cap="none" dirty="0"/>
            </a:br>
            <a:br>
              <a:rPr lang="en-US" sz="1400" cap="none" dirty="0"/>
            </a:br>
            <a:r>
              <a:rPr lang="en-US" sz="1400" cap="none" dirty="0"/>
              <a:t>logic elements (logic block),</a:t>
            </a:r>
            <a:br>
              <a:rPr lang="en-US" sz="1400" cap="none" dirty="0"/>
            </a:br>
            <a:r>
              <a:rPr lang="en-US" sz="1400" cap="none" dirty="0" err="1"/>
              <a:t>i</a:t>
            </a:r>
            <a:r>
              <a:rPr lang="en-US" sz="1400" cap="none" dirty="0"/>
              <a:t>/o elements placed on the periphery (</a:t>
            </a:r>
            <a:r>
              <a:rPr lang="en-US" sz="1400" cap="none" dirty="0" err="1"/>
              <a:t>i</a:t>
            </a:r>
            <a:r>
              <a:rPr lang="en-US" sz="1400" cap="none" dirty="0"/>
              <a:t>/o block), </a:t>
            </a:r>
            <a:br>
              <a:rPr lang="en-US" sz="1400" cap="none" dirty="0"/>
            </a:br>
            <a:r>
              <a:rPr lang="en-US" sz="1400" cap="none" dirty="0"/>
              <a:t>routing elements (switch block, connection block and routing channel), embedded memory, and multiplier blocks. </a:t>
            </a:r>
            <a:br>
              <a:rPr lang="en-US" sz="1400" cap="none" dirty="0"/>
            </a:br>
            <a:br>
              <a:rPr lang="en-US" sz="1400" cap="none" dirty="0"/>
            </a:br>
            <a:r>
              <a:rPr lang="en-US" sz="1400" cap="none" dirty="0"/>
              <a:t>A set of neighboring logic blocks, a connection block, a switch block is called a logic tile, arranged in a two-dimensional array.</a:t>
            </a:r>
            <a:br>
              <a:rPr lang="en-US" sz="1400" cap="none" dirty="0"/>
            </a:br>
            <a:br>
              <a:rPr lang="en-US" sz="1400" cap="none" dirty="0"/>
            </a:br>
            <a:r>
              <a:rPr lang="en-US" sz="1400" cap="none" dirty="0"/>
              <a:t>the logic block and multiplier block are used as hardware resources to realize logic functions, while the memory block provides storage. </a:t>
            </a:r>
            <a:br>
              <a:rPr lang="en-US" sz="1400" cap="none" dirty="0"/>
            </a:br>
            <a:br>
              <a:rPr lang="en-US" sz="1400" cap="none" dirty="0"/>
            </a:br>
            <a:r>
              <a:rPr lang="en-US" sz="1400" cap="none" dirty="0"/>
              <a:t>multiplier &amp; memory blocks, dedicated for specific usages, are called “hard logic”  </a:t>
            </a:r>
            <a:br>
              <a:rPr lang="en-US" sz="1400" cap="none" dirty="0"/>
            </a:br>
            <a:br>
              <a:rPr lang="en-US" sz="1400" cap="none" dirty="0"/>
            </a:br>
            <a:r>
              <a:rPr lang="en-US" sz="1400" cap="none" dirty="0"/>
              <a:t>functions implemented with logic blocks are called “soft logic” </a:t>
            </a:r>
            <a:br>
              <a:rPr lang="en-US" sz="1400" cap="none" dirty="0"/>
            </a:br>
            <a:br>
              <a:rPr lang="en-US" sz="1400" cap="none" dirty="0"/>
            </a:br>
            <a:r>
              <a:rPr lang="en-US" sz="1400" cap="none" dirty="0"/>
              <a:t>logic blocks are named differently among </a:t>
            </a:r>
            <a:r>
              <a:rPr lang="en-US" sz="1400" cap="none" dirty="0" err="1"/>
              <a:t>fpga</a:t>
            </a:r>
            <a:r>
              <a:rPr lang="en-US" sz="1400" cap="none" dirty="0"/>
              <a:t> vendors such as configurable logic block (CLB) in Xilinx FPGA and logic array block (LAB) in Altera</a:t>
            </a:r>
          </a:p>
        </p:txBody>
      </p:sp>
      <p:pic>
        <p:nvPicPr>
          <p:cNvPr id="10" name="Content Placeholder 9">
            <a:extLst>
              <a:ext uri="{FF2B5EF4-FFF2-40B4-BE49-F238E27FC236}">
                <a16:creationId xmlns:a16="http://schemas.microsoft.com/office/drawing/2014/main" id="{72F01697-6E86-D22D-4AC0-C35D8EEF06E0}"/>
              </a:ext>
            </a:extLst>
          </p:cNvPr>
          <p:cNvPicPr>
            <a:picLocks noGrp="1" noChangeAspect="1"/>
          </p:cNvPicPr>
          <p:nvPr>
            <p:ph sz="quarter" idx="13"/>
          </p:nvPr>
        </p:nvPicPr>
        <p:blipFill>
          <a:blip r:embed="rId2"/>
          <a:stretch>
            <a:fillRect/>
          </a:stretch>
        </p:blipFill>
        <p:spPr>
          <a:xfrm>
            <a:off x="7279049" y="1225219"/>
            <a:ext cx="4316703" cy="3889042"/>
          </a:xfrm>
          <a:prstGeom prst="rect">
            <a:avLst/>
          </a:prstGeom>
        </p:spPr>
      </p:pic>
      <p:sp>
        <p:nvSpPr>
          <p:cNvPr id="11" name="TextBox 10">
            <a:extLst>
              <a:ext uri="{FF2B5EF4-FFF2-40B4-BE49-F238E27FC236}">
                <a16:creationId xmlns:a16="http://schemas.microsoft.com/office/drawing/2014/main" id="{6CF8A57D-EAA3-4CB9-3489-1E0F3ECB7103}"/>
              </a:ext>
            </a:extLst>
          </p:cNvPr>
          <p:cNvSpPr txBox="1"/>
          <p:nvPr/>
        </p:nvSpPr>
        <p:spPr>
          <a:xfrm>
            <a:off x="8726988" y="5114261"/>
            <a:ext cx="1840568" cy="369332"/>
          </a:xfrm>
          <a:prstGeom prst="rect">
            <a:avLst/>
          </a:prstGeom>
          <a:noFill/>
        </p:spPr>
        <p:txBody>
          <a:bodyPr wrap="none" rtlCol="0">
            <a:spAutoFit/>
          </a:bodyPr>
          <a:lstStyle/>
          <a:p>
            <a:pPr algn="ctr"/>
            <a:r>
              <a:rPr lang="en-US" dirty="0"/>
              <a:t>Island Style FPGA</a:t>
            </a:r>
          </a:p>
        </p:txBody>
      </p:sp>
    </p:spTree>
    <p:extLst>
      <p:ext uri="{BB962C8B-B14F-4D97-AF65-F5344CB8AC3E}">
        <p14:creationId xmlns:p14="http://schemas.microsoft.com/office/powerpoint/2010/main" val="2901369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96667C-E7B1-44A4-ABEB-747A4BEC4D88}"/>
              </a:ext>
            </a:extLst>
          </p:cNvPr>
          <p:cNvSpPr>
            <a:spLocks noGrp="1"/>
          </p:cNvSpPr>
          <p:nvPr>
            <p:ph sz="quarter" idx="13"/>
          </p:nvPr>
        </p:nvSpPr>
        <p:spPr>
          <a:xfrm>
            <a:off x="913774" y="645460"/>
            <a:ext cx="10363826" cy="5952564"/>
          </a:xfrm>
        </p:spPr>
        <p:txBody>
          <a:bodyPr>
            <a:normAutofit/>
          </a:bodyPr>
          <a:lstStyle/>
          <a:p>
            <a:pPr marL="0" indent="0" algn="ctr">
              <a:lnSpc>
                <a:spcPct val="115000"/>
              </a:lnSpc>
              <a:spcAft>
                <a:spcPts val="1000"/>
              </a:spcAft>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progression</a:t>
            </a:r>
          </a:p>
          <a:p>
            <a:pPr algn="just">
              <a:lnSpc>
                <a:spcPct val="115000"/>
              </a:lnSpc>
              <a:spcAft>
                <a:spcPts val="1000"/>
              </a:spcAft>
            </a:pPr>
            <a:r>
              <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rPr>
              <a:t>FPGAs evolved from simple arrays of programmable logic and IO blocks to complex heterogeneous multi-die systems with embedded block rams, digital signal processing (DSP) blocks, processor subsystems, diverse high-performance external interfaces, system-level interconnect, and more[5]. </a:t>
            </a:r>
          </a:p>
          <a:p>
            <a:pPr algn="just">
              <a:lnSpc>
                <a:spcPct val="115000"/>
              </a:lnSpc>
              <a:spcAft>
                <a:spcPts val="1000"/>
              </a:spcAft>
            </a:pPr>
            <a:endParaRPr lang="en-US" sz="1400" cap="none"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pPr>
            <a:endPar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pPr>
            <a:endParaRPr lang="en-US" sz="1400" cap="none"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pPr>
            <a:endPar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pPr>
            <a:endParaRPr lang="en-US" sz="1400" cap="none"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pPr>
            <a:endPar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ctr">
              <a:lnSpc>
                <a:spcPct val="115000"/>
              </a:lnSpc>
              <a:spcAft>
                <a:spcPts val="1000"/>
              </a:spcAft>
              <a:buNone/>
            </a:pPr>
            <a:endParaRPr lang="en-US" sz="1400" cap="none"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ctr">
              <a:lnSpc>
                <a:spcPct val="115000"/>
              </a:lnSpc>
              <a:spcAft>
                <a:spcPts val="1000"/>
              </a:spcAft>
              <a:buNone/>
            </a:pPr>
            <a:r>
              <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rPr>
              <a:t>Fig 2: Early FPGA  Architecture vs modern heterogenous FPGA Architecture[2].</a:t>
            </a:r>
          </a:p>
          <a:p>
            <a:pPr algn="just">
              <a:lnSpc>
                <a:spcPct val="115000"/>
              </a:lnSpc>
              <a:spcAft>
                <a:spcPts val="1000"/>
              </a:spcAft>
            </a:pPr>
            <a:endPar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dirty="0"/>
          </a:p>
        </p:txBody>
      </p:sp>
      <p:pic>
        <p:nvPicPr>
          <p:cNvPr id="8" name="Picture 7">
            <a:extLst>
              <a:ext uri="{FF2B5EF4-FFF2-40B4-BE49-F238E27FC236}">
                <a16:creationId xmlns:a16="http://schemas.microsoft.com/office/drawing/2014/main" id="{A0F2F049-1970-498A-8773-CE436975ABD1}"/>
              </a:ext>
            </a:extLst>
          </p:cNvPr>
          <p:cNvPicPr>
            <a:picLocks noChangeAspect="1"/>
          </p:cNvPicPr>
          <p:nvPr/>
        </p:nvPicPr>
        <p:blipFill>
          <a:blip r:embed="rId2"/>
          <a:stretch>
            <a:fillRect/>
          </a:stretch>
        </p:blipFill>
        <p:spPr>
          <a:xfrm>
            <a:off x="3621741" y="2042495"/>
            <a:ext cx="4319039" cy="3561905"/>
          </a:xfrm>
          <a:prstGeom prst="rect">
            <a:avLst/>
          </a:prstGeom>
        </p:spPr>
      </p:pic>
    </p:spTree>
    <p:extLst>
      <p:ext uri="{BB962C8B-B14F-4D97-AF65-F5344CB8AC3E}">
        <p14:creationId xmlns:p14="http://schemas.microsoft.com/office/powerpoint/2010/main" val="1180714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B3366-B191-470A-9FF6-EE802D3ABD50}"/>
              </a:ext>
            </a:extLst>
          </p:cNvPr>
          <p:cNvSpPr>
            <a:spLocks noGrp="1"/>
          </p:cNvSpPr>
          <p:nvPr>
            <p:ph type="title"/>
          </p:nvPr>
        </p:nvSpPr>
        <p:spPr/>
        <p:txBody>
          <a:bodyPr>
            <a:normAutofit/>
          </a:bodyPr>
          <a:lstStyle/>
          <a:p>
            <a:r>
              <a:rPr lang="en-US" sz="1800" b="1" dirty="0">
                <a:latin typeface="Times New Roman" panose="02020603050405020304" pitchFamily="18" charset="0"/>
                <a:cs typeface="Times New Roman" panose="02020603050405020304" pitchFamily="18" charset="0"/>
              </a:rPr>
              <a:t>Xilinx Zynq-7000 AP SoC [6]</a:t>
            </a:r>
          </a:p>
        </p:txBody>
      </p:sp>
      <p:pic>
        <p:nvPicPr>
          <p:cNvPr id="4" name="Content Placeholder 3">
            <a:extLst>
              <a:ext uri="{FF2B5EF4-FFF2-40B4-BE49-F238E27FC236}">
                <a16:creationId xmlns:a16="http://schemas.microsoft.com/office/drawing/2014/main" id="{209E437D-60BF-4D03-879A-C4A1AB54B34C}"/>
              </a:ext>
            </a:extLst>
          </p:cNvPr>
          <p:cNvPicPr>
            <a:picLocks noGrp="1" noChangeAspect="1"/>
          </p:cNvPicPr>
          <p:nvPr>
            <p:ph sz="quarter" idx="13"/>
          </p:nvPr>
        </p:nvPicPr>
        <p:blipFill>
          <a:blip r:embed="rId2"/>
          <a:stretch>
            <a:fillRect/>
          </a:stretch>
        </p:blipFill>
        <p:spPr>
          <a:xfrm>
            <a:off x="2133599" y="2312894"/>
            <a:ext cx="7862047" cy="3783105"/>
          </a:xfrm>
          <a:prstGeom prst="rect">
            <a:avLst/>
          </a:prstGeom>
        </p:spPr>
      </p:pic>
    </p:spTree>
    <p:extLst>
      <p:ext uri="{BB962C8B-B14F-4D97-AF65-F5344CB8AC3E}">
        <p14:creationId xmlns:p14="http://schemas.microsoft.com/office/powerpoint/2010/main" val="1565129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BD49F-9AD2-4406-978B-E79B4BE88829}"/>
              </a:ext>
            </a:extLst>
          </p:cNvPr>
          <p:cNvSpPr>
            <a:spLocks noGrp="1"/>
          </p:cNvSpPr>
          <p:nvPr>
            <p:ph type="title"/>
          </p:nvPr>
        </p:nvSpPr>
        <p:spPr>
          <a:xfrm>
            <a:off x="2034987" y="4903646"/>
            <a:ext cx="7297271" cy="986165"/>
          </a:xfrm>
        </p:spPr>
        <p:txBody>
          <a:bodyPr>
            <a:normAutofit/>
          </a:bodyPr>
          <a:lstStyle/>
          <a:p>
            <a:r>
              <a:rPr lang="en-US" sz="1600"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F37F0C6-79B4-47C8-935A-9D56B600AED6}"/>
              </a:ext>
            </a:extLst>
          </p:cNvPr>
          <p:cNvPicPr>
            <a:picLocks noGrp="1" noChangeAspect="1"/>
          </p:cNvPicPr>
          <p:nvPr>
            <p:ph sz="quarter" idx="13"/>
          </p:nvPr>
        </p:nvPicPr>
        <p:blipFill rotWithShape="1">
          <a:blip r:embed="rId2">
            <a:extLst>
              <a:ext uri="{28A0092B-C50C-407E-A947-70E740481C1C}">
                <a14:useLocalDpi xmlns:a14="http://schemas.microsoft.com/office/drawing/2010/main" val="0"/>
              </a:ext>
            </a:extLst>
          </a:blip>
          <a:srcRect t="1755"/>
          <a:stretch/>
        </p:blipFill>
        <p:spPr>
          <a:xfrm>
            <a:off x="2832845" y="421342"/>
            <a:ext cx="5827061" cy="4374776"/>
          </a:xfrm>
        </p:spPr>
      </p:pic>
    </p:spTree>
    <p:extLst>
      <p:ext uri="{BB962C8B-B14F-4D97-AF65-F5344CB8AC3E}">
        <p14:creationId xmlns:p14="http://schemas.microsoft.com/office/powerpoint/2010/main" val="2405549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4E688-A66E-42B2-8605-5EE56D0E59CF}"/>
              </a:ext>
            </a:extLst>
          </p:cNvPr>
          <p:cNvSpPr>
            <a:spLocks noGrp="1"/>
          </p:cNvSpPr>
          <p:nvPr>
            <p:ph type="title"/>
          </p:nvPr>
        </p:nvSpPr>
        <p:spPr>
          <a:xfrm>
            <a:off x="2572871" y="618517"/>
            <a:ext cx="6696635" cy="1013059"/>
          </a:xfrm>
        </p:spPr>
        <p:txBody>
          <a:bodyPr>
            <a:normAutofit/>
          </a:bodyPr>
          <a:lstStyle/>
          <a:p>
            <a:r>
              <a:rPr lang="en-US" sz="1800" b="1" cap="none" dirty="0">
                <a:effectLst/>
                <a:latin typeface="Times New Roman" panose="02020603050405020304" pitchFamily="18" charset="0"/>
                <a:ea typeface="Times New Roman" panose="02020603050405020304" pitchFamily="18" charset="0"/>
                <a:cs typeface="Times New Roman" panose="02020603050405020304" pitchFamily="18" charset="0"/>
              </a:rPr>
              <a:t>Cryptography</a:t>
            </a:r>
            <a:br>
              <a:rPr lang="en-US" sz="3600" dirty="0">
                <a:effectLst/>
                <a:latin typeface="Calibri" panose="020F0502020204030204" pitchFamily="34" charset="0"/>
                <a:ea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ACCFE71-9F33-4FE8-9AAE-5C4E7064C13F}"/>
              </a:ext>
            </a:extLst>
          </p:cNvPr>
          <p:cNvSpPr>
            <a:spLocks noGrp="1"/>
          </p:cNvSpPr>
          <p:nvPr>
            <p:ph sz="quarter" idx="13"/>
          </p:nvPr>
        </p:nvSpPr>
        <p:spPr>
          <a:xfrm>
            <a:off x="913774" y="1129554"/>
            <a:ext cx="10363826" cy="4661646"/>
          </a:xfrm>
        </p:spPr>
        <p:txBody>
          <a:bodyPr>
            <a:normAutofit/>
          </a:bodyPr>
          <a:lstStyle/>
          <a:p>
            <a:pPr algn="just">
              <a:lnSpc>
                <a:spcPct val="115000"/>
              </a:lnSpc>
              <a:spcAft>
                <a:spcPts val="1000"/>
              </a:spcAft>
            </a:pPr>
            <a:endParaRPr lang="en-US" sz="1400" cap="none"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400" b="1" cap="none"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Cryptography, or cryptology </a:t>
            </a:r>
            <a:r>
              <a:rPr lang="en-US" sz="1400" cap="none" dirty="0">
                <a:solidFill>
                  <a:srgbClr val="1F1F1F"/>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1400" cap="none"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 the study of securing communication in the existence of third parties. </a:t>
            </a:r>
          </a:p>
          <a:p>
            <a:pPr marL="0" indent="0" algn="just">
              <a:lnSpc>
                <a:spcPct val="115000"/>
              </a:lnSpc>
              <a:spcAft>
                <a:spcPts val="1000"/>
              </a:spcAft>
              <a:buNone/>
            </a:pPr>
            <a:r>
              <a:rPr lang="en-US" sz="1400" cap="none" dirty="0">
                <a:solidFill>
                  <a:srgbClr val="1F1F1F"/>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400" cap="none"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protect the transaction of data from others. </a:t>
            </a:r>
            <a:endParaRPr lang="en-US" sz="1400" cap="none" dirty="0">
              <a:solidFill>
                <a:srgbClr val="1F1F1F"/>
              </a:solidFill>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15000"/>
              </a:lnSpc>
              <a:spcAft>
                <a:spcPts val="1000"/>
              </a:spcAft>
              <a:buNone/>
            </a:pPr>
            <a:r>
              <a:rPr lang="en-US" sz="1400" cap="none"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     constructs algorithms and protocols to protect sensitive data from adversaries. </a:t>
            </a:r>
            <a:endParaRPr lang="en-US" sz="1400" cap="none"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400" cap="none"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FPGAs offer several advantages over traditional software implementations </a:t>
            </a:r>
            <a:endParaRPr lang="en-US" sz="1400" cap="none" dirty="0">
              <a:solidFill>
                <a:srgbClr val="1F1F1F"/>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400" cap="none"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faster processing speeds</a:t>
            </a:r>
          </a:p>
          <a:p>
            <a:pPr algn="just">
              <a:lnSpc>
                <a:spcPct val="115000"/>
              </a:lnSpc>
              <a:spcAft>
                <a:spcPts val="1000"/>
              </a:spcAft>
            </a:pPr>
            <a:r>
              <a:rPr lang="en-US" sz="1400" cap="none"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 lower power consumption</a:t>
            </a:r>
            <a:endParaRPr lang="en-US" sz="1400" cap="none" dirty="0">
              <a:solidFill>
                <a:srgbClr val="1F1F1F"/>
              </a:solidFill>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15000"/>
              </a:lnSpc>
              <a:spcAft>
                <a:spcPts val="1000"/>
              </a:spcAft>
              <a:buNone/>
            </a:pPr>
            <a:r>
              <a:rPr lang="en-US" sz="1400" cap="none"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These benefits make FPGAs an attractive choice for applications that need fast encryption and decryption.</a:t>
            </a:r>
          </a:p>
          <a:p>
            <a:pPr algn="just">
              <a:lnSpc>
                <a:spcPct val="115000"/>
              </a:lnSpc>
              <a:spcAft>
                <a:spcPts val="1000"/>
              </a:spcAft>
            </a:pPr>
            <a:endParaRPr lang="en-US" sz="1400" cap="none"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AB28861-0375-4C0F-B5E2-270D73138023}"/>
              </a:ext>
            </a:extLst>
          </p:cNvPr>
          <p:cNvPicPr>
            <a:picLocks noChangeAspect="1"/>
          </p:cNvPicPr>
          <p:nvPr/>
        </p:nvPicPr>
        <p:blipFill>
          <a:blip r:embed="rId2"/>
          <a:stretch>
            <a:fillRect/>
          </a:stretch>
        </p:blipFill>
        <p:spPr>
          <a:xfrm>
            <a:off x="7166078" y="1653878"/>
            <a:ext cx="4482354" cy="2839850"/>
          </a:xfrm>
          <a:prstGeom prst="rect">
            <a:avLst/>
          </a:prstGeom>
        </p:spPr>
      </p:pic>
    </p:spTree>
    <p:extLst>
      <p:ext uri="{BB962C8B-B14F-4D97-AF65-F5344CB8AC3E}">
        <p14:creationId xmlns:p14="http://schemas.microsoft.com/office/powerpoint/2010/main" val="3358503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F17B3-8086-4AFB-971F-BD6AD5356667}"/>
              </a:ext>
            </a:extLst>
          </p:cNvPr>
          <p:cNvSpPr>
            <a:spLocks noGrp="1"/>
          </p:cNvSpPr>
          <p:nvPr>
            <p:ph type="title"/>
          </p:nvPr>
        </p:nvSpPr>
        <p:spPr/>
        <p:txBody>
          <a:bodyPr/>
          <a:lstStyle/>
          <a:p>
            <a:pPr algn="l"/>
            <a:r>
              <a:rPr lang="en-US" sz="1800" b="1" cap="none" dirty="0">
                <a:latin typeface="Times New Roman" panose="02020603050405020304" pitchFamily="18" charset="0"/>
                <a:cs typeface="Times New Roman" panose="02020603050405020304" pitchFamily="18" charset="0"/>
              </a:rPr>
              <a:t>References</a:t>
            </a:r>
            <a:r>
              <a:rPr lang="en-US" dirty="0"/>
              <a:t> </a:t>
            </a:r>
          </a:p>
        </p:txBody>
      </p:sp>
      <p:sp>
        <p:nvSpPr>
          <p:cNvPr id="3" name="Content Placeholder 2">
            <a:extLst>
              <a:ext uri="{FF2B5EF4-FFF2-40B4-BE49-F238E27FC236}">
                <a16:creationId xmlns:a16="http://schemas.microsoft.com/office/drawing/2014/main" id="{5D8BDA8F-63E5-4F15-8C63-105F6F9F2832}"/>
              </a:ext>
            </a:extLst>
          </p:cNvPr>
          <p:cNvSpPr>
            <a:spLocks noGrp="1"/>
          </p:cNvSpPr>
          <p:nvPr>
            <p:ph sz="quarter" idx="13"/>
          </p:nvPr>
        </p:nvSpPr>
        <p:spPr>
          <a:xfrm>
            <a:off x="913774" y="1647826"/>
            <a:ext cx="10363826" cy="4143374"/>
          </a:xfrm>
        </p:spPr>
        <p:txBody>
          <a:bodyPr>
            <a:normAutofit fontScale="25000" lnSpcReduction="20000"/>
          </a:bodyPr>
          <a:lstStyle/>
          <a:p>
            <a:pPr marL="914400" marR="457200" indent="-914400" algn="l">
              <a:buFont typeface="+mj-lt"/>
              <a:buAutoNum type="arabicPeriod"/>
            </a:pPr>
            <a:endParaRPr lang="en-US" sz="5600" b="0" i="0" cap="none" dirty="0">
              <a:solidFill>
                <a:srgbClr val="000000"/>
              </a:solidFill>
              <a:effectLst/>
              <a:latin typeface="Times New Roman" panose="02020603050405020304" pitchFamily="18" charset="0"/>
              <a:cs typeface="Times New Roman" panose="02020603050405020304" pitchFamily="18" charset="0"/>
            </a:endParaRPr>
          </a:p>
          <a:p>
            <a:r>
              <a:rPr lang="en-US" sz="4800" cap="none" dirty="0">
                <a:latin typeface="Times New Roman" panose="02020603050405020304" pitchFamily="18" charset="0"/>
                <a:cs typeface="Times New Roman" panose="02020603050405020304" pitchFamily="18" charset="0"/>
              </a:rPr>
              <a:t>              Innovative And Intelligent Computing For Global Sustainability </a:t>
            </a:r>
            <a:r>
              <a:rPr lang="en-US" sz="4800" b="1" cap="none" dirty="0">
                <a:latin typeface="Times New Roman" panose="02020603050405020304" pitchFamily="18" charset="0"/>
                <a:cs typeface="Times New Roman" panose="02020603050405020304" pitchFamily="18" charset="0"/>
              </a:rPr>
              <a:t>Publisher: </a:t>
            </a:r>
            <a:r>
              <a:rPr lang="en-US" sz="4800" cap="none" dirty="0">
                <a:latin typeface="Times New Roman" panose="02020603050405020304" pitchFamily="18" charset="0"/>
                <a:cs typeface="Times New Roman" panose="02020603050405020304" pitchFamily="18" charset="0"/>
              </a:rPr>
              <a:t>Springer Cham  https://</a:t>
            </a:r>
            <a:r>
              <a:rPr lang="en-US" sz="4800" cap="none">
                <a:latin typeface="Times New Roman" panose="02020603050405020304" pitchFamily="18" charset="0"/>
                <a:cs typeface="Times New Roman" panose="02020603050405020304" pitchFamily="18" charset="0"/>
              </a:rPr>
              <a:t>doi.org</a:t>
            </a:r>
            <a:r>
              <a:rPr lang="en-US" sz="4800" cap="none" dirty="0">
                <a:latin typeface="Times New Roman" panose="02020603050405020304" pitchFamily="18" charset="0"/>
                <a:cs typeface="Times New Roman" panose="02020603050405020304" pitchFamily="18" charset="0"/>
              </a:rPr>
              <a:t>/10.1007/978-3-031-97385-7</a:t>
            </a:r>
          </a:p>
          <a:p>
            <a:pPr marL="0" indent="0">
              <a:buNone/>
            </a:pPr>
            <a:endParaRPr lang="en-US" sz="5600" cap="none" dirty="0">
              <a:solidFill>
                <a:srgbClr val="000000"/>
              </a:solidFill>
              <a:latin typeface="Times New Roman" panose="02020603050405020304" pitchFamily="18" charset="0"/>
              <a:cs typeface="Times New Roman" panose="02020603050405020304" pitchFamily="18" charset="0"/>
            </a:endParaRPr>
          </a:p>
          <a:p>
            <a:pPr marL="0" indent="0" algn="l">
              <a:buNone/>
            </a:pPr>
            <a:r>
              <a:rPr lang="en-US" sz="5400" b="0" i="0" cap="none" dirty="0">
                <a:solidFill>
                  <a:srgbClr val="000000"/>
                </a:solidFill>
                <a:effectLst/>
                <a:latin typeface="Times New Roman" panose="02020603050405020304" pitchFamily="18" charset="0"/>
                <a:cs typeface="Times New Roman" panose="02020603050405020304" pitchFamily="18" charset="0"/>
              </a:rPr>
              <a:t>‌</a:t>
            </a:r>
          </a:p>
          <a:p>
            <a:pPr marL="914400" indent="-914400" algn="l">
              <a:buFont typeface="+mj-lt"/>
              <a:buAutoNum type="arabicPeriod"/>
            </a:pPr>
            <a:endParaRPr lang="en-US" sz="5600" b="0" i="0" dirty="0">
              <a:solidFill>
                <a:srgbClr val="000000"/>
              </a:solidFill>
              <a:effectLst/>
              <a:latin typeface="Times New Roman" panose="02020603050405020304" pitchFamily="18" charset="0"/>
              <a:cs typeface="Times New Roman" panose="02020603050405020304" pitchFamily="18" charset="0"/>
            </a:endParaRPr>
          </a:p>
          <a:p>
            <a:pPr marL="914400" indent="-914400" algn="l">
              <a:buFont typeface="+mj-lt"/>
              <a:buAutoNum type="arabicPeriod"/>
            </a:pPr>
            <a:endParaRPr lang="en-US" sz="5600" b="0" i="0" dirty="0">
              <a:solidFill>
                <a:srgbClr val="000000"/>
              </a:solidFill>
              <a:effectLst/>
              <a:latin typeface="Times New Roman" panose="02020603050405020304" pitchFamily="18" charset="0"/>
              <a:cs typeface="Times New Roman" panose="02020603050405020304" pitchFamily="18" charset="0"/>
            </a:endParaRPr>
          </a:p>
          <a:p>
            <a:pPr algn="l"/>
            <a:r>
              <a:rPr lang="en-US" sz="1000" b="0" i="0" dirty="0">
                <a:solidFill>
                  <a:srgbClr val="000000"/>
                </a:solidFill>
                <a:effectLst/>
                <a:latin typeface="Calibri" panose="020F0502020204030204" pitchFamily="34" charset="0"/>
              </a:rPr>
              <a:t>‌</a:t>
            </a:r>
          </a:p>
          <a:p>
            <a:pPr marR="457200" algn="l"/>
            <a:endParaRPr lang="en-US" sz="1050" b="0" i="0" dirty="0">
              <a:solidFill>
                <a:srgbClr val="000000"/>
              </a:solidFill>
              <a:effectLst/>
              <a:latin typeface="Calibri" panose="020F0502020204030204" pitchFamily="34" charset="0"/>
            </a:endParaRPr>
          </a:p>
          <a:p>
            <a:pPr marL="0" indent="0" algn="l">
              <a:buNone/>
            </a:pPr>
            <a:r>
              <a:rPr lang="en-US" sz="1050" b="0" i="0" dirty="0">
                <a:solidFill>
                  <a:srgbClr val="000000"/>
                </a:solidFill>
                <a:effectLst/>
                <a:latin typeface="Calibri" panose="020F0502020204030204" pitchFamily="34" charset="0"/>
              </a:rPr>
              <a:t>‌</a:t>
            </a:r>
          </a:p>
          <a:p>
            <a:pPr marR="457200" algn="l"/>
            <a:endParaRPr lang="en-US" sz="1100" b="0" i="0" dirty="0">
              <a:solidFill>
                <a:srgbClr val="000000"/>
              </a:solidFill>
              <a:effectLst/>
              <a:latin typeface="Calibri" panose="020F0502020204030204" pitchFamily="34" charset="0"/>
            </a:endParaRPr>
          </a:p>
          <a:p>
            <a:pPr algn="l"/>
            <a:r>
              <a:rPr lang="en-US" sz="1100" b="0" i="0" dirty="0">
                <a:solidFill>
                  <a:srgbClr val="000000"/>
                </a:solidFill>
                <a:effectLst/>
                <a:latin typeface="Calibri" panose="020F0502020204030204" pitchFamily="34" charset="0"/>
              </a:rPr>
              <a:t>‌</a:t>
            </a:r>
          </a:p>
          <a:p>
            <a:pPr marR="457200" algn="l"/>
            <a:endParaRPr lang="en-US" sz="1200" b="0" i="0" dirty="0">
              <a:solidFill>
                <a:srgbClr val="000000"/>
              </a:solidFill>
              <a:effectLst/>
              <a:latin typeface="Calibri" panose="020F0502020204030204" pitchFamily="34" charset="0"/>
            </a:endParaRPr>
          </a:p>
          <a:p>
            <a:pPr algn="l"/>
            <a:r>
              <a:rPr lang="en-US" sz="1200" b="0" i="0" dirty="0">
                <a:solidFill>
                  <a:srgbClr val="000000"/>
                </a:solidFill>
                <a:effectLst/>
                <a:latin typeface="Calibri" panose="020F0502020204030204" pitchFamily="34" charset="0"/>
              </a:rPr>
              <a:t>‌</a:t>
            </a:r>
          </a:p>
          <a:p>
            <a:pPr marR="457200" algn="l"/>
            <a:endParaRPr lang="en-US" sz="1400" b="0" i="0" cap="none" dirty="0">
              <a:solidFill>
                <a:srgbClr val="000000"/>
              </a:solidFill>
              <a:effectLst/>
              <a:latin typeface="Times New Roman" panose="02020603050405020304" pitchFamily="18" charset="0"/>
              <a:cs typeface="Times New Roman" panose="02020603050405020304" pitchFamily="18" charset="0"/>
            </a:endParaRPr>
          </a:p>
          <a:p>
            <a:pPr algn="l"/>
            <a:r>
              <a:rPr lang="en-US" b="0" i="0" dirty="0">
                <a:solidFill>
                  <a:srgbClr val="000000"/>
                </a:solidFill>
                <a:effectLst/>
                <a:latin typeface="Calibri" panose="020F0502020204030204" pitchFamily="34" charset="0"/>
              </a:rPr>
              <a:t>‌</a:t>
            </a:r>
          </a:p>
          <a:p>
            <a:endParaRPr lang="en-US" dirty="0"/>
          </a:p>
        </p:txBody>
      </p:sp>
    </p:spTree>
    <p:extLst>
      <p:ext uri="{BB962C8B-B14F-4D97-AF65-F5344CB8AC3E}">
        <p14:creationId xmlns:p14="http://schemas.microsoft.com/office/powerpoint/2010/main" val="2425872006"/>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Droplet</Template>
  <TotalTime>541</TotalTime>
  <Words>843</Words>
  <Application>Microsoft Macintosh PowerPoint</Application>
  <PresentationFormat>Widescreen</PresentationFormat>
  <Paragraphs>96</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Calibri</vt:lpstr>
      <vt:lpstr>Cambria</vt:lpstr>
      <vt:lpstr>Comic Sans MS</vt:lpstr>
      <vt:lpstr>Helvetica</vt:lpstr>
      <vt:lpstr>Symbol</vt:lpstr>
      <vt:lpstr>Times New Roman</vt:lpstr>
      <vt:lpstr>Tw Cen MT</vt:lpstr>
      <vt:lpstr>Droplet</vt:lpstr>
      <vt:lpstr>Computing for Sustainability</vt:lpstr>
      <vt:lpstr>Sustainability….</vt:lpstr>
      <vt:lpstr>Intelligent Computing for sustainability </vt:lpstr>
      <vt:lpstr>PowerPoint Presentation</vt:lpstr>
      <vt:lpstr>Why FPGA? </vt:lpstr>
      <vt:lpstr>PowerPoint Presentation</vt:lpstr>
      <vt:lpstr>FPGA Hardware Evolution </vt:lpstr>
      <vt:lpstr>FPGA structure [4] </vt:lpstr>
      <vt:lpstr>An island-style FPGA has   logic elements (logic block), i/o elements placed on the periphery (i/o block),  routing elements (switch block, connection block and routing channel), embedded memory, and multiplier blocks.   A set of neighboring logic blocks, a connection block, a switch block is called a logic tile, arranged in a two-dimensional array.  the logic block and multiplier block are used as hardware resources to realize logic functions, while the memory block provides storage.   multiplier &amp; memory blocks, dedicated for specific usages, are called “hard logic”    functions implemented with logic blocks are called “soft logic”   logic blocks are named differently among fpga vendors such as configurable logic block (CLB) in Xilinx FPGA and logic array block (LAB) in Altera</vt:lpstr>
      <vt:lpstr>PowerPoint Presentation</vt:lpstr>
      <vt:lpstr>Xilinx Zynq-7000 AP SoC [6]</vt:lpstr>
      <vt:lpstr> </vt:lpstr>
      <vt:lpstr>Cryptography </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Ankita Sarkar</dc:creator>
  <cp:lastModifiedBy>Gaurang Khera</cp:lastModifiedBy>
  <cp:revision>48</cp:revision>
  <dcterms:created xsi:type="dcterms:W3CDTF">2024-07-08T08:22:30Z</dcterms:created>
  <dcterms:modified xsi:type="dcterms:W3CDTF">2026-04-17T03:17:02Z</dcterms:modified>
</cp:coreProperties>
</file>